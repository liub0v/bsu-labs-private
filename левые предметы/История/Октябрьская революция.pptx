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1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16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816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94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90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02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86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92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70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800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2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4000"/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-67000"/>
                    </a14:imgEffect>
                    <a14:imgEffect>
                      <a14:brightnessContrast bright="-6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D47F7-012C-48D4-B959-7742E9A102AA}" type="datetimeFigureOut">
              <a:rPr lang="ru-RU" smtClean="0"/>
              <a:t>26.10.2018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6C733-B612-4807-A36C-2C265B818C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58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73087" y="425318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sz="89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Октябрьская революция 1917 года и Беларусь. Установление советской власти.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743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1444349"/>
          </a:xfr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ru-RU" b="1" dirty="0"/>
              <a:t>В ночь с 24 на 25 октября 1917 г.</a:t>
            </a:r>
            <a:r>
              <a:rPr lang="ru-RU" dirty="0"/>
              <a:t> в Петрограде произошло вооруженное восстание рабочих и </a:t>
            </a:r>
            <a:r>
              <a:rPr lang="ru-RU" dirty="0" smtClean="0"/>
              <a:t>солдат</a:t>
            </a:r>
            <a:endParaRPr lang="en-US" dirty="0" smtClean="0"/>
          </a:p>
          <a:p>
            <a:r>
              <a:rPr lang="ru-RU" dirty="0" smtClean="0"/>
              <a:t>Утром</a:t>
            </a:r>
            <a:r>
              <a:rPr lang="en-US" dirty="0" smtClean="0"/>
              <a:t> </a:t>
            </a:r>
            <a:r>
              <a:rPr lang="ru-RU" dirty="0"/>
              <a:t>объявлялось о свержении Временно правительства. 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3223"/>
            <a:ext cx="6619460" cy="386135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341" y="2467390"/>
            <a:ext cx="4929808" cy="277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40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92884"/>
          </a:xfr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ru-RU" b="1" dirty="0"/>
              <a:t>Вечером 25 октября</a:t>
            </a:r>
            <a:r>
              <a:rPr lang="ru-RU" dirty="0"/>
              <a:t> открылся </a:t>
            </a:r>
            <a:r>
              <a:rPr lang="ru-RU" b="1" dirty="0"/>
              <a:t>II Всероссийский съезд</a:t>
            </a:r>
            <a:r>
              <a:rPr lang="ru-RU" dirty="0"/>
              <a:t> советов рабочих и солдатских депутатов.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331" y="2202942"/>
            <a:ext cx="6180985" cy="4351338"/>
          </a:xfrm>
        </p:spPr>
      </p:pic>
      <p:sp>
        <p:nvSpPr>
          <p:cNvPr id="5" name="TextBox 4"/>
          <p:cNvSpPr txBox="1"/>
          <p:nvPr/>
        </p:nvSpPr>
        <p:spPr>
          <a:xfrm>
            <a:off x="838200" y="2670451"/>
            <a:ext cx="3783496" cy="3416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Съезд принял решение о </a:t>
            </a:r>
            <a:r>
              <a:rPr lang="ru-RU" i="1" dirty="0"/>
              <a:t>переходе власти к советам</a:t>
            </a:r>
            <a:r>
              <a:rPr lang="ru-RU" dirty="0"/>
              <a:t>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Учреждался </a:t>
            </a:r>
            <a:r>
              <a:rPr lang="ru-RU" dirty="0"/>
              <a:t>Совет народных комиссаров как временное рабочее и крестьянское правительство.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Были </a:t>
            </a:r>
            <a:r>
              <a:rPr lang="ru-RU" dirty="0"/>
              <a:t>приняты </a:t>
            </a:r>
            <a:r>
              <a:rPr lang="ru-RU" i="1" dirty="0"/>
              <a:t>Декрет о земле</a:t>
            </a:r>
            <a:r>
              <a:rPr lang="ru-RU" dirty="0"/>
              <a:t>, отменявший частную собственность на землю,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 smtClean="0"/>
              <a:t>Декрет </a:t>
            </a:r>
            <a:r>
              <a:rPr lang="ru-RU" i="1" dirty="0"/>
              <a:t>о мире</a:t>
            </a:r>
            <a:r>
              <a:rPr lang="ru-RU" dirty="0"/>
              <a:t>, постановление об отмене смертной казни. </a:t>
            </a:r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876" y="3034455"/>
            <a:ext cx="1759673" cy="24235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9810" y="2772334"/>
            <a:ext cx="2372190" cy="331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43188"/>
          </a:xfrm>
          <a:solidFill>
            <a:schemeClr val="bg1">
              <a:lumMod val="95000"/>
            </a:schemeClr>
          </a:solidFill>
        </p:spPr>
        <p:txBody>
          <a:bodyPr>
            <a:normAutofit fontScale="90000"/>
          </a:bodyPr>
          <a:lstStyle/>
          <a:p>
            <a:r>
              <a:rPr lang="ru-RU" b="1" dirty="0"/>
              <a:t>26 октября 1917 г</a:t>
            </a:r>
            <a:r>
              <a:rPr lang="ru-RU" dirty="0"/>
              <a:t>. </a:t>
            </a:r>
            <a:r>
              <a:rPr lang="ru-RU" i="1" dirty="0"/>
              <a:t>исполком Минского совета объявил о переходе власти в руки Совета рабочих и солдатских депутатов</a:t>
            </a:r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94" y="2153618"/>
            <a:ext cx="6865593" cy="4351338"/>
          </a:xfrm>
        </p:spPr>
      </p:pic>
    </p:spTree>
    <p:extLst>
      <p:ext uri="{BB962C8B-B14F-4D97-AF65-F5344CB8AC3E}">
        <p14:creationId xmlns:p14="http://schemas.microsoft.com/office/powerpoint/2010/main" val="244356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 b="1" dirty="0"/>
              <a:t>27 октября</a:t>
            </a:r>
            <a:r>
              <a:rPr lang="ru-RU" dirty="0"/>
              <a:t> был </a:t>
            </a:r>
            <a:r>
              <a:rPr lang="ru-RU" i="1" dirty="0"/>
              <a:t>создан Комитет спасения революции</a:t>
            </a:r>
            <a:r>
              <a:rPr lang="ru-RU" dirty="0"/>
              <a:t> во главе с Т. </a:t>
            </a:r>
            <a:r>
              <a:rPr lang="ru-RU" i="1" dirty="0" err="1"/>
              <a:t>Колотухиным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ÐÐ°ÑÑÐ¸Ð½ÐºÐ¸ Ð¿Ð¾ Ð·Ð°Ð¿ÑÐ¾ÑÑ ÐºÐ¾Ð¼Ð¸ÑÐµÑ ÑÐ¿Ð°ÑÐµÐ½Ð¸Ñ ÑÐµÐ²Ð¾Ð»ÑÑÐ¸Ð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631" y="2355273"/>
            <a:ext cx="5992738" cy="3730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736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90252" y="365125"/>
            <a:ext cx="4863548" cy="5850984"/>
          </a:xfrm>
          <a:solidFill>
            <a:schemeClr val="bg1">
              <a:lumMod val="95000"/>
            </a:schemeClr>
          </a:solidFill>
        </p:spPr>
        <p:txBody>
          <a:bodyPr>
            <a:normAutofit fontScale="90000"/>
          </a:bodyPr>
          <a:lstStyle/>
          <a:p>
            <a:r>
              <a:rPr lang="ru-RU" b="1" dirty="0"/>
              <a:t>В ночь с 1 на 2 ноября</a:t>
            </a:r>
            <a:r>
              <a:rPr lang="ru-RU" dirty="0"/>
              <a:t> в Минск </a:t>
            </a:r>
            <a:r>
              <a:rPr lang="ru-RU" i="1" dirty="0"/>
              <a:t>вышел бронированный поезд, а также отряды революционных солдат</a:t>
            </a:r>
            <a:r>
              <a:rPr lang="ru-RU" dirty="0"/>
              <a:t>, которые взяли под защиту Минский совет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91" y="1630924"/>
            <a:ext cx="4877463" cy="3319385"/>
          </a:xfrm>
        </p:spPr>
      </p:pic>
    </p:spTree>
    <p:extLst>
      <p:ext uri="{BB962C8B-B14F-4D97-AF65-F5344CB8AC3E}">
        <p14:creationId xmlns:p14="http://schemas.microsoft.com/office/powerpoint/2010/main" val="162342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0878" y="1182756"/>
            <a:ext cx="4543425" cy="488011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ru-RU" sz="2800" b="1" dirty="0"/>
              <a:t>26 ноября</a:t>
            </a:r>
            <a:r>
              <a:rPr lang="ru-RU" sz="2800" dirty="0"/>
              <a:t> был сформирован </a:t>
            </a:r>
            <a:r>
              <a:rPr lang="ru-RU" sz="2800" i="1" dirty="0"/>
              <a:t>Исполком советов рабочих, солдатских и крестьянских депутатов Западной области и фронта </a:t>
            </a:r>
            <a:r>
              <a:rPr lang="ru-RU" sz="2800" b="1" i="1" dirty="0"/>
              <a:t>(</a:t>
            </a:r>
            <a:r>
              <a:rPr lang="ru-RU" sz="2800" b="1" i="1" dirty="0" err="1"/>
              <a:t>Облисполкомзап</a:t>
            </a:r>
            <a:r>
              <a:rPr lang="ru-RU" sz="2800" b="1" dirty="0"/>
              <a:t>)</a:t>
            </a:r>
            <a:r>
              <a:rPr lang="ru-RU" sz="2800" dirty="0"/>
              <a:t>. Он сформировал </a:t>
            </a:r>
            <a:r>
              <a:rPr lang="ru-RU" sz="2800" b="1" i="1" dirty="0"/>
              <a:t>Совет народных комиссаров области и фронта</a:t>
            </a:r>
            <a:r>
              <a:rPr lang="ru-RU" sz="2800" dirty="0"/>
              <a:t> (председатель К. </a:t>
            </a:r>
            <a:r>
              <a:rPr lang="ru-RU" sz="2800" b="1" dirty="0" err="1"/>
              <a:t>Ландер</a:t>
            </a:r>
            <a:r>
              <a:rPr lang="ru-RU" sz="2800" dirty="0"/>
              <a:t>)</a:t>
            </a:r>
          </a:p>
        </p:txBody>
      </p:sp>
      <p:pic>
        <p:nvPicPr>
          <p:cNvPr id="1026" name="Picture 2" descr="ÐÐ°ÑÑÐ¸Ð½ÐºÐ¸ Ð¿Ð¾ Ð·Ð°Ð¿ÑÐ¾ÑÑ Ð¾Ð±Ð»Ð¸ÑÐ¿Ð¾Ð»ÐºÐ¾Ð¼Ð·Ð°Ð¿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588" y="459684"/>
            <a:ext cx="5733296" cy="402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ÐÐ°ÑÑÐ¸Ð½ÐºÐ¸ Ð¿Ð¾ Ð·Ð°Ð¿ÑÐ¾ÑÑ Ðº Ð»Ð°Ð½Ð´ÐµÑ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695" y="2437399"/>
            <a:ext cx="2627152" cy="362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16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15"/>
          <a:stretch/>
        </p:blipFill>
        <p:spPr>
          <a:xfrm>
            <a:off x="2087218" y="0"/>
            <a:ext cx="7877283" cy="6721747"/>
          </a:xfrm>
        </p:spPr>
      </p:pic>
    </p:spTree>
    <p:extLst>
      <p:ext uri="{BB962C8B-B14F-4D97-AF65-F5344CB8AC3E}">
        <p14:creationId xmlns:p14="http://schemas.microsoft.com/office/powerpoint/2010/main" val="57307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69962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r>
              <a:rPr lang="ru-RU" sz="3600" dirty="0"/>
              <a:t> Исполком Великой белорусской рады начал подготовку своего </a:t>
            </a:r>
            <a:r>
              <a:rPr lang="ru-RU" sz="3600" i="1" dirty="0"/>
              <a:t>«Учредительного собрания» – Всебелорусского съезда, – целью которого было создание демократической краевой власти</a:t>
            </a:r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858" y="3456956"/>
            <a:ext cx="5546664" cy="334544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832652"/>
            <a:ext cx="10515600" cy="129208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 dirty="0"/>
              <a:t>Великая белорусская рада назначила открытие </a:t>
            </a:r>
            <a:r>
              <a:rPr lang="ru-RU" b="1" i="1" dirty="0"/>
              <a:t>Всебелорусского съезда</a:t>
            </a:r>
            <a:r>
              <a:rPr lang="ru-RU" dirty="0"/>
              <a:t> </a:t>
            </a:r>
            <a:r>
              <a:rPr lang="ru-RU" b="1" dirty="0"/>
              <a:t>на 5 декабря.</a:t>
            </a:r>
            <a:r>
              <a:rPr lang="ru-RU" dirty="0"/>
              <a:t> В этот день в минском городском театре собралось около 300 человек.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124740"/>
            <a:ext cx="4954657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2400" dirty="0"/>
              <a:t>После долгих споров </a:t>
            </a:r>
            <a:r>
              <a:rPr lang="ru-RU" sz="2400" b="1" dirty="0"/>
              <a:t>7 декабря</a:t>
            </a:r>
            <a:r>
              <a:rPr lang="ru-RU" sz="2400" dirty="0"/>
              <a:t> участники признали полномочия съезда. Заслушав приветствие и </a:t>
            </a:r>
            <a:r>
              <a:rPr lang="ru-RU" sz="2400" i="1" dirty="0"/>
              <a:t>доклад А. </a:t>
            </a:r>
            <a:r>
              <a:rPr lang="ru-RU" sz="2400" i="1" dirty="0" err="1"/>
              <a:t>Бонч-Осмоловского</a:t>
            </a:r>
            <a:r>
              <a:rPr lang="ru-RU" sz="2400" i="1" dirty="0"/>
              <a:t> по земельному вопросу**,</a:t>
            </a:r>
            <a:r>
              <a:rPr lang="ru-RU" sz="2400" dirty="0"/>
              <a:t> делегаты начали работать по секциям и организациям. </a:t>
            </a:r>
          </a:p>
        </p:txBody>
      </p:sp>
    </p:spTree>
    <p:extLst>
      <p:ext uri="{BB962C8B-B14F-4D97-AF65-F5344CB8AC3E}">
        <p14:creationId xmlns:p14="http://schemas.microsoft.com/office/powerpoint/2010/main" val="395266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 dirty="0"/>
              <a:t>Вечером </a:t>
            </a:r>
            <a:r>
              <a:rPr lang="ru-RU" b="1" dirty="0"/>
              <a:t>17 декабря</a:t>
            </a:r>
            <a:r>
              <a:rPr lang="ru-RU" dirty="0"/>
              <a:t> началось </a:t>
            </a:r>
            <a:r>
              <a:rPr lang="ru-RU" i="1" dirty="0"/>
              <a:t>пленарное**</a:t>
            </a:r>
            <a:r>
              <a:rPr lang="ru-RU" dirty="0"/>
              <a:t> заседание Всебелорусского съезда.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4840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ru-RU" sz="3200" b="1" i="1" dirty="0" smtClean="0"/>
              <a:t>Разгорелась </a:t>
            </a:r>
            <a:r>
              <a:rPr lang="ru-RU" sz="3200" b="1" i="1" dirty="0"/>
              <a:t>дискуссия о формах самоопределения </a:t>
            </a:r>
            <a:r>
              <a:rPr lang="ru-RU" sz="3200" b="1" i="1" dirty="0" smtClean="0"/>
              <a:t>Беларуси</a:t>
            </a:r>
            <a:r>
              <a:rPr lang="ru-RU" sz="3600" b="1" dirty="0" smtClean="0"/>
              <a:t>:</a:t>
            </a:r>
          </a:p>
          <a:p>
            <a:r>
              <a:rPr lang="ru-RU" dirty="0" smtClean="0"/>
              <a:t> </a:t>
            </a:r>
            <a:r>
              <a:rPr lang="ru-RU" b="1" i="1" dirty="0"/>
              <a:t>Великая белорусская рада</a:t>
            </a:r>
            <a:r>
              <a:rPr lang="ru-RU" dirty="0"/>
              <a:t> выступала за провозглашение независимости </a:t>
            </a:r>
            <a:r>
              <a:rPr lang="ru-RU" dirty="0" smtClean="0"/>
              <a:t>Беларуси</a:t>
            </a:r>
          </a:p>
          <a:p>
            <a:r>
              <a:rPr lang="ru-RU" b="1" i="1" dirty="0" smtClean="0"/>
              <a:t>Белорусский </a:t>
            </a:r>
            <a:r>
              <a:rPr lang="ru-RU" b="1" i="1" dirty="0"/>
              <a:t>областной комитет</a:t>
            </a:r>
            <a:r>
              <a:rPr lang="ru-RU" dirty="0"/>
              <a:t> требовал областной автономии Беларуси в составе России. </a:t>
            </a:r>
            <a:endParaRPr lang="ru-RU" dirty="0" smtClean="0"/>
          </a:p>
          <a:p>
            <a:r>
              <a:rPr lang="ru-RU" b="1" i="1" dirty="0" smtClean="0"/>
              <a:t>Левые </a:t>
            </a:r>
            <a:r>
              <a:rPr lang="ru-RU" b="1" i="1" dirty="0"/>
              <a:t>эсеры и народническое крыло БСГ</a:t>
            </a:r>
            <a:r>
              <a:rPr lang="ru-RU" dirty="0"/>
              <a:t> выступали за полную автономию со своей краевой властью. </a:t>
            </a:r>
          </a:p>
        </p:txBody>
      </p:sp>
    </p:spTree>
    <p:extLst>
      <p:ext uri="{BB962C8B-B14F-4D97-AF65-F5344CB8AC3E}">
        <p14:creationId xmlns:p14="http://schemas.microsoft.com/office/powerpoint/2010/main" val="29774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162843"/>
            <a:ext cx="10515600" cy="334952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ru-RU" b="1" i="1" dirty="0"/>
              <a:t>В </a:t>
            </a:r>
            <a:r>
              <a:rPr lang="ru-RU" b="1" dirty="0"/>
              <a:t>ночь с 17 на 18 декабря</a:t>
            </a:r>
            <a:r>
              <a:rPr lang="ru-RU" b="1" i="1" dirty="0"/>
              <a:t> съезд был разогнан. </a:t>
            </a:r>
            <a:r>
              <a:rPr lang="ru-RU" dirty="0"/>
              <a:t>СНК Западной области провел аресты некоторых членов президиума, ряда делегатов съезда.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022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333</Words>
  <Application>Microsoft Office PowerPoint</Application>
  <PresentationFormat>Широкоэкранный</PresentationFormat>
  <Paragraphs>21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Тема Office</vt:lpstr>
      <vt:lpstr>Октябрьская революция 1917 года и Беларусь. Установление советской власти. </vt:lpstr>
      <vt:lpstr>Презентация PowerPoint</vt:lpstr>
      <vt:lpstr>Вечером 25 октября открылся II Всероссийский съезд советов рабочих и солдатских депутатов. </vt:lpstr>
      <vt:lpstr>26 октября 1917 г. исполком Минского совета объявил о переходе власти в руки Совета рабочих и солдатских депутатов</vt:lpstr>
      <vt:lpstr>27 октября был создан Комитет спасения революции во главе с Т. Колотухиным</vt:lpstr>
      <vt:lpstr>В ночь с 1 на 2 ноября в Минск вышел бронированный поезд, а также отряды революционных солдат, которые взяли под защиту Минский совет</vt:lpstr>
      <vt:lpstr>26 ноября был сформирован Исполком советов рабочих, солдатских и крестьянских депутатов Западной области и фронта (Облисполкомзап). Он сформировал Совет народных комиссаров области и фронта (председатель К. Ландер)</vt:lpstr>
      <vt:lpstr>Презентация PowerPoint</vt:lpstr>
      <vt:lpstr> Исполком Великой белорусской рады начал подготовку своего «Учредительного собрания» – Всебелорусского съезда, – целью которого было создание демократической краевой власти</vt:lpstr>
      <vt:lpstr>Вечером 17 декабря началось пленарное** заседание Всебелорусского съезда.</vt:lpstr>
      <vt:lpstr>В ночь с 17 на 18 декабря съезд был разогнан. СНК Западной области провел аресты некоторых членов президиума, ряда делегатов съезда.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9</cp:revision>
  <dcterms:created xsi:type="dcterms:W3CDTF">2018-10-18T13:54:49Z</dcterms:created>
  <dcterms:modified xsi:type="dcterms:W3CDTF">2018-10-26T13:10:23Z</dcterms:modified>
</cp:coreProperties>
</file>